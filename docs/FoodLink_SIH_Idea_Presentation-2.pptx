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323232"/>
    <a:srgbClr val="9BBB59"/>
    <a:srgbClr val="39B0D4"/>
    <a:srgbClr val="727272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" dt="2026-09-11T21:04:27.082"/>
    <p1510:client id="{4EDAD40C-18BB-4F5D-B6E7-4D43E81EE1CB}" v="311" dt="2026-09-11T21:11:01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8.png"/><Relationship Id="rId10" Type="http://schemas.openxmlformats.org/officeDocument/2006/relationships/image" Target="../media/image22.png"/><Relationship Id="rId4" Type="http://schemas.openxmlformats.org/officeDocument/2006/relationships/image" Target="../media/image27.pn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331286" y="2026860"/>
            <a:ext cx="130000" cy="13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1286" y="1918860"/>
            <a:ext cx="265000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B7C"/>
                </a:solidFill>
                <a:latin typeface="Calibri"/>
              </a:rPr>
              <a:t>PROBLEM STATEMENT 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1286" y="2168860"/>
            <a:ext cx="53000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50" b="1" dirty="0">
                <a:solidFill>
                  <a:srgbClr val="212529"/>
                </a:solidFill>
                <a:latin typeface="Calibri"/>
                <a:ea typeface="Calibri"/>
              </a:rPr>
              <a:t>26234</a:t>
            </a:r>
            <a:endParaRPr lang="en-US" sz="1450" b="1">
              <a:solidFill>
                <a:srgbClr val="212529"/>
              </a:solidFill>
              <a:ea typeface="Calibri"/>
              <a:cs typeface="Calibri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331286" y="2746860"/>
            <a:ext cx="130000" cy="13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91286" y="2638860"/>
            <a:ext cx="265000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B7C"/>
                </a:solidFill>
                <a:latin typeface="Calibri"/>
              </a:rPr>
              <a:t>PROBLEM STATEMENT TITLE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1286" y="2888861"/>
            <a:ext cx="53000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r>
              <a:rPr lang="en-US" sz="1450" b="1" dirty="0">
                <a:solidFill>
                  <a:srgbClr val="010000"/>
                </a:solidFill>
                <a:highlight>
                  <a:srgbClr val="FFFFFF"/>
                </a:highlight>
                <a:latin typeface="Calibri"/>
                <a:ea typeface="Calibri"/>
              </a:rPr>
              <a:t>Al-Powered </a:t>
            </a:r>
            <a:r>
              <a:rPr lang="en-US" sz="1450" b="1" i="0" dirty="0">
                <a:solidFill>
                  <a:srgbClr val="010000"/>
                </a:solidFill>
                <a:highlight>
                  <a:srgbClr val="FFFFFF"/>
                </a:highlight>
                <a:latin typeface="Calibri"/>
                <a:ea typeface="Calibri"/>
              </a:rPr>
              <a:t>Smart Food Waste Reduction</a:t>
            </a:r>
            <a:r>
              <a:rPr lang="en-US" sz="1450" b="1" dirty="0">
                <a:solidFill>
                  <a:srgbClr val="010000"/>
                </a:solidFill>
                <a:highlight>
                  <a:srgbClr val="FFFFFF"/>
                </a:highlight>
                <a:latin typeface="Calibri"/>
                <a:ea typeface="Calibri"/>
              </a:rPr>
              <a:t> and Sustainable Redistribution Ecosystem for Institutional Kitchens and Food Processing Units</a:t>
            </a:r>
            <a:endParaRPr lang="en-US" sz="1450" b="1">
              <a:solidFill>
                <a:srgbClr val="010000"/>
              </a:solidFill>
              <a:cs typeface="Calibri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331286" y="3775519"/>
            <a:ext cx="130000" cy="13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1286" y="3667519"/>
            <a:ext cx="265000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B7C"/>
                </a:solidFill>
                <a:latin typeface="Calibri"/>
              </a:rPr>
              <a:t>THEME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1286" y="3917519"/>
            <a:ext cx="53000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2A4A"/>
                </a:solidFill>
                <a:latin typeface="Calibri"/>
              </a:rPr>
              <a:t>Food Waste Prevention &amp; Sustainable Supply Chain</a:t>
            </a:r>
          </a:p>
        </p:txBody>
      </p:sp>
      <p:sp>
        <p:nvSpPr>
          <p:cNvPr id="47" name="Oval 46"/>
          <p:cNvSpPr/>
          <p:nvPr/>
        </p:nvSpPr>
        <p:spPr>
          <a:xfrm>
            <a:off x="331286" y="4495519"/>
            <a:ext cx="130000" cy="13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1286" y="4387519"/>
            <a:ext cx="265000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B7C"/>
                </a:solidFill>
                <a:latin typeface="Calibri"/>
              </a:rPr>
              <a:t>PS CATEGORY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1286" y="4637519"/>
            <a:ext cx="53000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2A4A"/>
                </a:solidFill>
                <a:latin typeface="Calibri"/>
              </a:rPr>
              <a:t>Software</a:t>
            </a:r>
          </a:p>
        </p:txBody>
      </p:sp>
      <p:sp>
        <p:nvSpPr>
          <p:cNvPr id="50" name="Oval 49"/>
          <p:cNvSpPr/>
          <p:nvPr/>
        </p:nvSpPr>
        <p:spPr>
          <a:xfrm>
            <a:off x="331286" y="5215519"/>
            <a:ext cx="130000" cy="13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1286" y="5107519"/>
            <a:ext cx="265000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B7C"/>
                </a:solidFill>
                <a:latin typeface="Calibri"/>
              </a:rPr>
              <a:t>TEAM ID</a:t>
            </a:r>
          </a:p>
        </p:txBody>
      </p:sp>
      <p:sp>
        <p:nvSpPr>
          <p:cNvPr id="53" name="Oval 52"/>
          <p:cNvSpPr/>
          <p:nvPr/>
        </p:nvSpPr>
        <p:spPr>
          <a:xfrm>
            <a:off x="331286" y="5935519"/>
            <a:ext cx="130000" cy="13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91286" y="5827519"/>
            <a:ext cx="2650000" cy="4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B6B7C"/>
                </a:solidFill>
                <a:latin typeface="Calibri"/>
              </a:rPr>
              <a:t>TEAM NAME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1286" y="6077519"/>
            <a:ext cx="5300000" cy="4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50" b="1" i="1" dirty="0" err="1">
                <a:solidFill>
                  <a:srgbClr val="323232"/>
                </a:solidFill>
                <a:latin typeface="Calibri"/>
                <a:ea typeface="ＭＳ Ｐゴシック"/>
              </a:rPr>
              <a:t>GitResolvers</a:t>
            </a:r>
            <a:endParaRPr lang="en-US" b="1" dirty="0">
              <a:solidFill>
                <a:srgbClr val="323232"/>
              </a:solidFill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l"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</a:t>
            </a:r>
            <a:r>
              <a:rPr lang="en-US" dirty="0" err="1">
                <a:solidFill>
                  <a:schemeClr val="bg1"/>
                </a:solidFill>
                <a:ea typeface="Calibri"/>
                <a:cs typeface="Calibri"/>
              </a:rPr>
              <a:t>GitResolvers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609600" y="1310000"/>
            <a:ext cx="10972800" cy="5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42A4A"/>
                </a:solidFill>
                <a:latin typeface="Calibri"/>
              </a:rPr>
              <a:t>FoodLink</a:t>
            </a:r>
            <a:r>
              <a:rPr sz="1600" b="0" i="0">
                <a:solidFill>
                  <a:srgbClr val="5B6B7C"/>
                </a:solidFill>
                <a:latin typeface="Calibri"/>
              </a:rPr>
              <a:t>  —  AI-Powered Food Intelligence Platform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609600" y="1780000"/>
            <a:ext cx="109728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0070C0"/>
                </a:solidFill>
                <a:latin typeface="Calibri"/>
              </a:rPr>
              <a:t>Predict Smarter  •  Waste Less  •  Feed More</a:t>
            </a:r>
          </a:p>
        </p:txBody>
      </p:sp>
      <p:sp>
        <p:nvSpPr>
          <p:cNvPr id="15364" name="TextBox 15363"/>
          <p:cNvSpPr txBox="1"/>
          <p:nvPr/>
        </p:nvSpPr>
        <p:spPr>
          <a:xfrm>
            <a:off x="609600" y="2276901"/>
            <a:ext cx="10972800" cy="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73344"/>
                </a:solidFill>
                <a:latin typeface="Calibri"/>
              </a:rPr>
              <a:t>FoodLink is an AI-powered decision-intelligence platform that prevents food waste before it occurs — learning each kitchen's unique patterns to forecast demand, assess quality, and redistribute surplus in real time, turning reactive waste management into proactive prevention.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609600" y="2976902"/>
            <a:ext cx="5391150" cy="940000"/>
          </a:xfrm>
          <a:prstGeom prst="roundRect">
            <a:avLst>
              <a:gd name="adj" fmla="val 9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6" name="Oval 15365"/>
          <p:cNvSpPr/>
          <p:nvPr/>
        </p:nvSpPr>
        <p:spPr>
          <a:xfrm>
            <a:off x="949600" y="3166902"/>
            <a:ext cx="560000" cy="56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67" name="Picture 15366" descr="ic_forec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4000" y="3301302"/>
            <a:ext cx="291200" cy="291200"/>
          </a:xfrm>
          <a:prstGeom prst="rect">
            <a:avLst/>
          </a:prstGeom>
        </p:spPr>
      </p:pic>
      <p:sp>
        <p:nvSpPr>
          <p:cNvPr id="15368" name="TextBox 15367"/>
          <p:cNvSpPr txBox="1"/>
          <p:nvPr/>
        </p:nvSpPr>
        <p:spPr>
          <a:xfrm>
            <a:off x="1589600" y="3106902"/>
            <a:ext cx="429115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A4A"/>
                </a:solidFill>
                <a:latin typeface="Calibri"/>
              </a:rPr>
              <a:t>Demand Forecasting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1589600" y="3436902"/>
            <a:ext cx="4291150" cy="4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Calibri"/>
              </a:rPr>
              <a:t>Predicts meal requirements precisely from historical attendance and menu data.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6191250" y="2976902"/>
            <a:ext cx="5391150" cy="940000"/>
          </a:xfrm>
          <a:prstGeom prst="roundRect">
            <a:avLst>
              <a:gd name="adj" fmla="val 9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1" name="Oval 15370"/>
          <p:cNvSpPr/>
          <p:nvPr/>
        </p:nvSpPr>
        <p:spPr>
          <a:xfrm>
            <a:off x="6531250" y="3166902"/>
            <a:ext cx="560000" cy="56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72" name="Picture 15371" descr="ic_reci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650" y="3301302"/>
            <a:ext cx="291200" cy="291200"/>
          </a:xfrm>
          <a:prstGeom prst="rect">
            <a:avLst/>
          </a:prstGeom>
        </p:spPr>
      </p:pic>
      <p:sp>
        <p:nvSpPr>
          <p:cNvPr id="15373" name="TextBox 15372"/>
          <p:cNvSpPr txBox="1"/>
          <p:nvPr/>
        </p:nvSpPr>
        <p:spPr>
          <a:xfrm>
            <a:off x="7171250" y="3106902"/>
            <a:ext cx="429115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A4A"/>
                </a:solidFill>
                <a:latin typeface="Calibri"/>
              </a:rPr>
              <a:t>Recipe-Aware Quality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7171250" y="3436902"/>
            <a:ext cx="4291150" cy="4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Calibri"/>
              </a:rPr>
              <a:t>AI fingerprints each kitchen's unique cooking patterns to judge quality accurately.</a:t>
            </a:r>
          </a:p>
        </p:txBody>
      </p:sp>
      <p:sp>
        <p:nvSpPr>
          <p:cNvPr id="15375" name="Rounded Rectangle 15374"/>
          <p:cNvSpPr/>
          <p:nvPr/>
        </p:nvSpPr>
        <p:spPr>
          <a:xfrm>
            <a:off x="609600" y="4066902"/>
            <a:ext cx="5391150" cy="940000"/>
          </a:xfrm>
          <a:prstGeom prst="roundRect">
            <a:avLst>
              <a:gd name="adj" fmla="val 9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6" name="Oval 15375"/>
          <p:cNvSpPr/>
          <p:nvPr/>
        </p:nvSpPr>
        <p:spPr>
          <a:xfrm>
            <a:off x="949600" y="4256902"/>
            <a:ext cx="560000" cy="56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77" name="Picture 15376" descr="ic_surpl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000" y="4391302"/>
            <a:ext cx="291200" cy="291200"/>
          </a:xfrm>
          <a:prstGeom prst="rect">
            <a:avLst/>
          </a:prstGeom>
        </p:spPr>
      </p:pic>
      <p:sp>
        <p:nvSpPr>
          <p:cNvPr id="15378" name="TextBox 15377"/>
          <p:cNvSpPr txBox="1"/>
          <p:nvPr/>
        </p:nvSpPr>
        <p:spPr>
          <a:xfrm>
            <a:off x="1589600" y="4196902"/>
            <a:ext cx="429115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A4A"/>
                </a:solidFill>
                <a:latin typeface="Calibri"/>
              </a:rPr>
              <a:t>Surplus Detection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1589600" y="4526902"/>
            <a:ext cx="4291150" cy="4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Calibri"/>
              </a:rPr>
              <a:t>Predictive alerts identify excess food before it becomes waste.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6191250" y="4066902"/>
            <a:ext cx="5391150" cy="940000"/>
          </a:xfrm>
          <a:prstGeom prst="roundRect">
            <a:avLst>
              <a:gd name="adj" fmla="val 9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1" name="Oval 15380"/>
          <p:cNvSpPr/>
          <p:nvPr/>
        </p:nvSpPr>
        <p:spPr>
          <a:xfrm>
            <a:off x="6531250" y="4256902"/>
            <a:ext cx="560000" cy="56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82" name="Picture 15381" descr="ic_redistribu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650" y="4391302"/>
            <a:ext cx="291200" cy="291200"/>
          </a:xfrm>
          <a:prstGeom prst="rect">
            <a:avLst/>
          </a:prstGeom>
        </p:spPr>
      </p:pic>
      <p:sp>
        <p:nvSpPr>
          <p:cNvPr id="15383" name="TextBox 15382"/>
          <p:cNvSpPr txBox="1"/>
          <p:nvPr/>
        </p:nvSpPr>
        <p:spPr>
          <a:xfrm>
            <a:off x="7171250" y="4196902"/>
            <a:ext cx="4291150" cy="3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A4A"/>
                </a:solidFill>
                <a:latin typeface="Calibri"/>
              </a:rPr>
              <a:t>Smart Redistribution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7171250" y="4526902"/>
            <a:ext cx="4291150" cy="4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7C"/>
                </a:solidFill>
                <a:latin typeface="Calibri"/>
              </a:rPr>
              <a:t>Connects institutions with NGOs and delivery networks in real time.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609600" y="5234520"/>
            <a:ext cx="10972800" cy="780000"/>
          </a:xfrm>
          <a:prstGeom prst="roundRect">
            <a:avLst>
              <a:gd name="adj" fmla="val 9000"/>
            </a:avLst>
          </a:prstGeom>
          <a:solidFill>
            <a:srgbClr val="E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86" name="TextBox 15385"/>
          <p:cNvSpPr txBox="1"/>
          <p:nvPr/>
        </p:nvSpPr>
        <p:spPr>
          <a:xfrm>
            <a:off x="869600" y="5344520"/>
            <a:ext cx="33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7A54"/>
                </a:solidFill>
                <a:latin typeface="Calibri"/>
              </a:rPr>
              <a:t>TARGET USERS</a:t>
            </a:r>
          </a:p>
        </p:txBody>
      </p:sp>
      <p:sp>
        <p:nvSpPr>
          <p:cNvPr id="15387" name="TextBox 15386"/>
          <p:cNvSpPr txBox="1"/>
          <p:nvPr/>
        </p:nvSpPr>
        <p:spPr>
          <a:xfrm>
            <a:off x="869600" y="5634520"/>
            <a:ext cx="3550000" cy="3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73344"/>
                </a:solidFill>
                <a:latin typeface="Calibri"/>
              </a:rPr>
              <a:t>Institutional kitchens, hospitals, hotels, catering companies &amp; food-processing units</a:t>
            </a:r>
          </a:p>
        </p:txBody>
      </p:sp>
      <p:cxnSp>
        <p:nvCxnSpPr>
          <p:cNvPr id="15388" name="Connector 15387"/>
          <p:cNvCxnSpPr/>
          <p:nvPr/>
        </p:nvCxnSpPr>
        <p:spPr>
          <a:xfrm>
            <a:off x="4589600" y="5354520"/>
            <a:ext cx="0" cy="540000"/>
          </a:xfrm>
          <a:prstGeom prst="line">
            <a:avLst/>
          </a:prstGeom>
          <a:ln w="12700">
            <a:solidFill>
              <a:srgbClr val="DCE3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9" name="TextBox 15388"/>
          <p:cNvSpPr txBox="1"/>
          <p:nvPr/>
        </p:nvSpPr>
        <p:spPr>
          <a:xfrm>
            <a:off x="4839600" y="5344520"/>
            <a:ext cx="650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F7A54"/>
                </a:solidFill>
                <a:latin typeface="Calibri"/>
              </a:rPr>
              <a:t>WHY IT'S UNIQUE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4839600" y="5634520"/>
            <a:ext cx="6482800" cy="33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73344"/>
                </a:solidFill>
                <a:latin typeface="Calibri"/>
              </a:rPr>
              <a:t>Recipe-aware, kitchen-specific AI that learns and adapts to each institution — no two kitchens are treated the same.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l"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</a:t>
            </a:r>
            <a:r>
              <a:rPr lang="en-US" dirty="0" err="1">
                <a:solidFill>
                  <a:schemeClr val="bg1"/>
                </a:solidFill>
              </a:rPr>
              <a:t>GitResolvers</a:t>
            </a: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09600" y="1200000"/>
            <a:ext cx="10972800" cy="29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70C0"/>
                </a:solidFill>
                <a:latin typeface="Calibri"/>
              </a:rPr>
              <a:t>TECHNOLOGY STACK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09600" y="1540000"/>
            <a:ext cx="3566266" cy="5600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829600" y="1640000"/>
            <a:ext cx="360000" cy="360000"/>
          </a:xfrm>
          <a:prstGeom prst="ellipse">
            <a:avLst/>
          </a:prstGeom>
          <a:solidFill>
            <a:srgbClr val="1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3" name="Picture 17412" descr="ic_front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000" y="1726400"/>
            <a:ext cx="187200" cy="18720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1249600" y="1615000"/>
            <a:ext cx="2846266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A4A"/>
                </a:solidFill>
                <a:latin typeface="Calibri"/>
              </a:rPr>
              <a:t>Frontend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249600" y="1860000"/>
            <a:ext cx="2846266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5B6B7C"/>
                </a:solidFill>
                <a:latin typeface="Calibri"/>
              </a:rPr>
              <a:t>React.js · Flutter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312866" y="1540000"/>
            <a:ext cx="3566266" cy="5600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Oval 17416"/>
          <p:cNvSpPr/>
          <p:nvPr/>
        </p:nvSpPr>
        <p:spPr>
          <a:xfrm>
            <a:off x="4532866" y="1640000"/>
            <a:ext cx="360000" cy="360000"/>
          </a:xfrm>
          <a:prstGeom prst="ellipse">
            <a:avLst/>
          </a:prstGeom>
          <a:solidFill>
            <a:srgbClr val="1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8" name="Picture 17417" descr="ic_back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266" y="1726400"/>
            <a:ext cx="187200" cy="187200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4952866" y="1615000"/>
            <a:ext cx="2846266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A4A"/>
                </a:solidFill>
                <a:latin typeface="Calibri"/>
              </a:rPr>
              <a:t>Backend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952866" y="1860000"/>
            <a:ext cx="2846266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5B6B7C"/>
                </a:solidFill>
                <a:latin typeface="Calibri"/>
              </a:rPr>
              <a:t>FastAPI · Node.js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8016133" y="1540000"/>
            <a:ext cx="3566266" cy="5600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Oval 17421"/>
          <p:cNvSpPr/>
          <p:nvPr/>
        </p:nvSpPr>
        <p:spPr>
          <a:xfrm>
            <a:off x="8236133" y="1640000"/>
            <a:ext cx="360000" cy="360000"/>
          </a:xfrm>
          <a:prstGeom prst="ellipse">
            <a:avLst/>
          </a:prstGeom>
          <a:solidFill>
            <a:srgbClr val="1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3" name="Picture 17422" descr="ic_aim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2533" y="1726400"/>
            <a:ext cx="187200" cy="187200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8656133" y="1615000"/>
            <a:ext cx="2846266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A4A"/>
                </a:solidFill>
                <a:latin typeface="Calibri"/>
              </a:rPr>
              <a:t>AI / ML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656133" y="1860000"/>
            <a:ext cx="2846266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5B6B7C"/>
                </a:solidFill>
                <a:latin typeface="Calibri"/>
              </a:rPr>
              <a:t>PyTorch · TensorFlow · YOLOv11 · ViT · CLIP · XGBoost · Prophet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09600" y="2185000"/>
            <a:ext cx="3566266" cy="5600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Oval 17426"/>
          <p:cNvSpPr/>
          <p:nvPr/>
        </p:nvSpPr>
        <p:spPr>
          <a:xfrm>
            <a:off x="829600" y="2285000"/>
            <a:ext cx="360000" cy="360000"/>
          </a:xfrm>
          <a:prstGeom prst="ellipse">
            <a:avLst/>
          </a:prstGeom>
          <a:solidFill>
            <a:srgbClr val="1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8" name="Picture 17427" descr="ic_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000" y="2371400"/>
            <a:ext cx="187200" cy="187200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1249600" y="2260000"/>
            <a:ext cx="2846266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A4A"/>
                </a:solidFill>
                <a:latin typeface="Calibri"/>
              </a:rPr>
              <a:t>Database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1249600" y="2505000"/>
            <a:ext cx="2846266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5B6B7C"/>
                </a:solidFill>
                <a:latin typeface="Calibri"/>
              </a:rPr>
              <a:t>PostgreSQL · MongoDB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312866" y="2185000"/>
            <a:ext cx="3566266" cy="5600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Oval 17431"/>
          <p:cNvSpPr/>
          <p:nvPr/>
        </p:nvSpPr>
        <p:spPr>
          <a:xfrm>
            <a:off x="4532866" y="2285000"/>
            <a:ext cx="360000" cy="360000"/>
          </a:xfrm>
          <a:prstGeom prst="ellipse">
            <a:avLst/>
          </a:prstGeom>
          <a:solidFill>
            <a:srgbClr val="1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3" name="Picture 17432" descr="ic_clou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9266" y="2371400"/>
            <a:ext cx="187200" cy="187200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4952866" y="2260000"/>
            <a:ext cx="2846266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A4A"/>
                </a:solidFill>
                <a:latin typeface="Calibri"/>
              </a:rPr>
              <a:t>Cloud &amp; Infra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952866" y="2505000"/>
            <a:ext cx="2846266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5B6B7C"/>
                </a:solidFill>
                <a:latin typeface="Calibri"/>
              </a:rPr>
              <a:t>AWS · Docker · Firebase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8016133" y="2185000"/>
            <a:ext cx="3566266" cy="56000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Oval 17436"/>
          <p:cNvSpPr/>
          <p:nvPr/>
        </p:nvSpPr>
        <p:spPr>
          <a:xfrm>
            <a:off x="8236133" y="2285000"/>
            <a:ext cx="360000" cy="360000"/>
          </a:xfrm>
          <a:prstGeom prst="ellipse">
            <a:avLst/>
          </a:prstGeom>
          <a:solidFill>
            <a:srgbClr val="1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8" name="Picture 17437" descr="ic_api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2533" y="2371400"/>
            <a:ext cx="187200" cy="187200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8656133" y="2260000"/>
            <a:ext cx="2846266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A4A"/>
                </a:solidFill>
                <a:latin typeface="Calibri"/>
              </a:rPr>
              <a:t>APIs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8656133" y="2505000"/>
            <a:ext cx="2846266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5B6B7C"/>
                </a:solidFill>
                <a:latin typeface="Calibri"/>
              </a:rPr>
              <a:t>Google Maps · OR-Tools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09600" y="2935000"/>
            <a:ext cx="10972800" cy="29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70C0"/>
                </a:solidFill>
                <a:latin typeface="Calibri"/>
              </a:rPr>
              <a:t>SYSTEM ARCHITECTURE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609600" y="3285000"/>
            <a:ext cx="10972800" cy="500000"/>
          </a:xfrm>
          <a:prstGeom prst="roundRect">
            <a:avLst>
              <a:gd name="adj" fmla="val 14000"/>
            </a:avLst>
          </a:prstGeom>
          <a:solidFill>
            <a:srgbClr val="F4F7FB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3" name="Oval 17442"/>
          <p:cNvSpPr/>
          <p:nvPr/>
        </p:nvSpPr>
        <p:spPr>
          <a:xfrm>
            <a:off x="829600" y="3375000"/>
            <a:ext cx="320000" cy="320000"/>
          </a:xfrm>
          <a:prstGeom prst="ellipse">
            <a:avLst/>
          </a:prstGeom>
          <a:solidFill>
            <a:srgbClr val="0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44" name="Picture 17443" descr="ic_instituti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6400" y="3451800"/>
            <a:ext cx="166400" cy="166400"/>
          </a:xfrm>
          <a:prstGeom prst="rect">
            <a:avLst/>
          </a:prstGeom>
        </p:spPr>
      </p:pic>
      <p:sp>
        <p:nvSpPr>
          <p:cNvPr id="17445" name="TextBox 17444"/>
          <p:cNvSpPr txBox="1"/>
          <p:nvPr/>
        </p:nvSpPr>
        <p:spPr>
          <a:xfrm>
            <a:off x="1219600" y="3360000"/>
            <a:ext cx="3000000" cy="2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42A4A"/>
                </a:solidFill>
                <a:latin typeface="Calibri"/>
              </a:rPr>
              <a:t>Institution Portal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1219600" y="3605000"/>
            <a:ext cx="7072800" cy="2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B6B7C"/>
                </a:solidFill>
                <a:latin typeface="Calibri"/>
              </a:rPr>
              <a:t>Demand forecasting · Menu &amp; production planning · Recipe fingerprint · Image upload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09600" y="3777000"/>
            <a:ext cx="10972800" cy="12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0C0"/>
                </a:solidFill>
                <a:latin typeface="Calibri"/>
              </a:rPr>
              <a:t>↓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609600" y="3913000"/>
            <a:ext cx="10972800" cy="500000"/>
          </a:xfrm>
          <a:prstGeom prst="roundRect">
            <a:avLst>
              <a:gd name="adj" fmla="val 14000"/>
            </a:avLst>
          </a:prstGeom>
          <a:solidFill>
            <a:srgbClr val="F4F7FB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9" name="Oval 17448"/>
          <p:cNvSpPr/>
          <p:nvPr/>
        </p:nvSpPr>
        <p:spPr>
          <a:xfrm>
            <a:off x="829600" y="4003000"/>
            <a:ext cx="320000" cy="320000"/>
          </a:xfrm>
          <a:prstGeom prst="ellipse">
            <a:avLst/>
          </a:prstGeom>
          <a:solidFill>
            <a:srgbClr val="1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50" name="Picture 17449" descr="ic_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400" y="4079800"/>
            <a:ext cx="166400" cy="166400"/>
          </a:xfrm>
          <a:prstGeom prst="rect">
            <a:avLst/>
          </a:prstGeom>
        </p:spPr>
      </p:pic>
      <p:sp>
        <p:nvSpPr>
          <p:cNvPr id="17451" name="TextBox 17450"/>
          <p:cNvSpPr txBox="1"/>
          <p:nvPr/>
        </p:nvSpPr>
        <p:spPr>
          <a:xfrm>
            <a:off x="1219600" y="3988000"/>
            <a:ext cx="3000000" cy="2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42A4A"/>
                </a:solidFill>
                <a:latin typeface="Calibri"/>
              </a:rPr>
              <a:t>Food Data Layer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1219600" y="4233000"/>
            <a:ext cx="7072800" cy="2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5B6B7C"/>
                </a:solidFill>
                <a:latin typeface="Calibri"/>
              </a:rPr>
              <a:t>Menu  ·  Attendance  ·  Inventory  ·  Food Images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609600" y="4405000"/>
            <a:ext cx="10972800" cy="12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0C0"/>
                </a:solidFill>
                <a:latin typeface="Calibri"/>
              </a:rPr>
              <a:t>↓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609600" y="4541000"/>
            <a:ext cx="10972800" cy="620000"/>
          </a:xfrm>
          <a:prstGeom prst="roundRect">
            <a:avLst>
              <a:gd name="adj" fmla="val 14000"/>
            </a:avLst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5" name="Oval 17454"/>
          <p:cNvSpPr/>
          <p:nvPr/>
        </p:nvSpPr>
        <p:spPr>
          <a:xfrm>
            <a:off x="819600" y="4681000"/>
            <a:ext cx="340000" cy="34000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56" name="Picture 17455" descr="ic_corelay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1200" y="4762600"/>
            <a:ext cx="176800" cy="176800"/>
          </a:xfrm>
          <a:prstGeom prst="rect">
            <a:avLst/>
          </a:prstGeom>
        </p:spPr>
      </p:pic>
      <p:sp>
        <p:nvSpPr>
          <p:cNvPr id="17457" name="TextBox 17456"/>
          <p:cNvSpPr txBox="1"/>
          <p:nvPr/>
        </p:nvSpPr>
        <p:spPr>
          <a:xfrm>
            <a:off x="1229600" y="4636000"/>
            <a:ext cx="10072800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FoodLink Intelligence Core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1229600" y="4896000"/>
            <a:ext cx="10072800" cy="25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D7E3F5"/>
                </a:solidFill>
                <a:latin typeface="Calibri"/>
              </a:rPr>
              <a:t>Demand Forecasting  ·  Recipe Fingerprint  ·  Computer Vision  ·  Quality Risk  ·  Surplus Prediction  ·  Decision Intelligence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609600" y="5153000"/>
            <a:ext cx="10972800" cy="12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0C0"/>
                </a:solidFill>
                <a:latin typeface="Calibri"/>
              </a:rPr>
              <a:t>↓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609600" y="5289000"/>
            <a:ext cx="3566266" cy="40000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1" name="Oval 17460"/>
          <p:cNvSpPr/>
          <p:nvPr/>
        </p:nvSpPr>
        <p:spPr>
          <a:xfrm>
            <a:off x="744600" y="5344000"/>
            <a:ext cx="290000" cy="290000"/>
          </a:xfrm>
          <a:prstGeom prst="ellipse">
            <a:avLst/>
          </a:prstGeom>
          <a:solidFill>
            <a:srgbClr val="0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62" name="Picture 17461" descr="ic_ng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4200" y="5413600"/>
            <a:ext cx="150800" cy="150800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1089600" y="5289000"/>
            <a:ext cx="3046266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42A4A"/>
                </a:solidFill>
                <a:latin typeface="Calibri"/>
              </a:rPr>
              <a:t>NGO Portal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4312866" y="5289000"/>
            <a:ext cx="3566266" cy="40000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5" name="Oval 17464"/>
          <p:cNvSpPr/>
          <p:nvPr/>
        </p:nvSpPr>
        <p:spPr>
          <a:xfrm>
            <a:off x="4447866" y="5344000"/>
            <a:ext cx="290000" cy="290000"/>
          </a:xfrm>
          <a:prstGeom prst="ellipse">
            <a:avLst/>
          </a:prstGeom>
          <a:solidFill>
            <a:srgbClr val="0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66" name="Picture 17465" descr="ic_rid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17466" y="5413600"/>
            <a:ext cx="150800" cy="150800"/>
          </a:xfrm>
          <a:prstGeom prst="rect">
            <a:avLst/>
          </a:prstGeom>
        </p:spPr>
      </p:pic>
      <p:sp>
        <p:nvSpPr>
          <p:cNvPr id="17467" name="TextBox 17466"/>
          <p:cNvSpPr txBox="1"/>
          <p:nvPr/>
        </p:nvSpPr>
        <p:spPr>
          <a:xfrm>
            <a:off x="4792866" y="5289000"/>
            <a:ext cx="3046266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42A4A"/>
                </a:solidFill>
                <a:latin typeface="Calibri"/>
              </a:rPr>
              <a:t>Rider App</a:t>
            </a:r>
          </a:p>
        </p:txBody>
      </p:sp>
      <p:sp>
        <p:nvSpPr>
          <p:cNvPr id="17468" name="Rounded Rectangle 17467"/>
          <p:cNvSpPr/>
          <p:nvPr/>
        </p:nvSpPr>
        <p:spPr>
          <a:xfrm>
            <a:off x="8016133" y="5289000"/>
            <a:ext cx="3566266" cy="40000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9" name="Oval 17468"/>
          <p:cNvSpPr/>
          <p:nvPr/>
        </p:nvSpPr>
        <p:spPr>
          <a:xfrm>
            <a:off x="8151133" y="5344000"/>
            <a:ext cx="290000" cy="290000"/>
          </a:xfrm>
          <a:prstGeom prst="ellipse">
            <a:avLst/>
          </a:prstGeom>
          <a:solidFill>
            <a:srgbClr val="0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70" name="Picture 17469" descr="ic_governmen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20733" y="5413600"/>
            <a:ext cx="150800" cy="150800"/>
          </a:xfrm>
          <a:prstGeom prst="rect">
            <a:avLst/>
          </a:prstGeom>
        </p:spPr>
      </p:pic>
      <p:sp>
        <p:nvSpPr>
          <p:cNvPr id="17471" name="TextBox 17470"/>
          <p:cNvSpPr txBox="1"/>
          <p:nvPr/>
        </p:nvSpPr>
        <p:spPr>
          <a:xfrm>
            <a:off x="8496133" y="5289000"/>
            <a:ext cx="3046266" cy="4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1" i="0">
                <a:solidFill>
                  <a:srgbClr val="142A4A"/>
                </a:solidFill>
                <a:latin typeface="Calibri"/>
              </a:rPr>
              <a:t>Government Dashboard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609600" y="5681000"/>
            <a:ext cx="10972800" cy="12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70C0"/>
                </a:solidFill>
                <a:latin typeface="Calibri"/>
              </a:rPr>
              <a:t>↓</a:t>
            </a:r>
          </a:p>
        </p:txBody>
      </p:sp>
      <p:sp>
        <p:nvSpPr>
          <p:cNvPr id="17473" name="Rounded Rectangle 17472"/>
          <p:cNvSpPr/>
          <p:nvPr/>
        </p:nvSpPr>
        <p:spPr>
          <a:xfrm>
            <a:off x="609600" y="5817000"/>
            <a:ext cx="10972800" cy="360000"/>
          </a:xfrm>
          <a:prstGeom prst="roundRect">
            <a:avLst>
              <a:gd name="adj" fmla="val 16000"/>
            </a:avLst>
          </a:prstGeom>
          <a:solidFill>
            <a:srgbClr val="E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4" name="Oval 17473"/>
          <p:cNvSpPr/>
          <p:nvPr/>
        </p:nvSpPr>
        <p:spPr>
          <a:xfrm>
            <a:off x="819600" y="5857000"/>
            <a:ext cx="280000" cy="280000"/>
          </a:xfrm>
          <a:prstGeom prst="ellipse">
            <a:avLst/>
          </a:prstGeom>
          <a:solidFill>
            <a:srgbClr val="1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75" name="Picture 17474" descr="ic_learning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6800" y="5924200"/>
            <a:ext cx="145600" cy="145600"/>
          </a:xfrm>
          <a:prstGeom prst="rect">
            <a:avLst/>
          </a:prstGeom>
        </p:spPr>
      </p:pic>
      <p:sp>
        <p:nvSpPr>
          <p:cNvPr id="17476" name="TextBox 17475"/>
          <p:cNvSpPr txBox="1"/>
          <p:nvPr/>
        </p:nvSpPr>
        <p:spPr>
          <a:xfrm>
            <a:off x="1179600" y="5817000"/>
            <a:ext cx="10072800" cy="36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F7A54"/>
                </a:solidFill>
                <a:latin typeface="Calibri"/>
              </a:rPr>
              <a:t>Continuous Learning &amp;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</a:t>
            </a:r>
            <a:r>
              <a:rPr lang="en-US" dirty="0" err="1">
                <a:solidFill>
                  <a:prstClr val="white"/>
                </a:solidFill>
              </a:rPr>
              <a:t>GitResolvers</a:t>
            </a:r>
            <a:endParaRPr kumimoji="0" lang="en-US" sz="12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09600" y="1464994"/>
            <a:ext cx="3950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70C0"/>
                </a:solidFill>
                <a:latin typeface="Calibri"/>
              </a:rPr>
              <a:t>WHY FOODLINK WORKS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674600" y="1939994"/>
            <a:ext cx="470000" cy="470000"/>
          </a:xfrm>
          <a:prstGeom prst="ellipse">
            <a:avLst/>
          </a:prstGeom>
          <a:solidFill>
            <a:srgbClr val="1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2" name="Picture 17411" descr="ic_inf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00" y="2052794"/>
            <a:ext cx="244400" cy="244400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1249600" y="1964994"/>
            <a:ext cx="3310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42A4A"/>
                </a:solidFill>
                <a:latin typeface="Calibri"/>
              </a:rPr>
              <a:t>Existing Infrastructure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249600" y="2284994"/>
            <a:ext cx="3310000" cy="5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C"/>
                </a:solidFill>
                <a:latin typeface="Calibri"/>
              </a:rPr>
              <a:t>Leverages data institutions already collect — no new pipelines needed.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674600" y="2879994"/>
            <a:ext cx="470000" cy="470000"/>
          </a:xfrm>
          <a:prstGeom prst="ellipse">
            <a:avLst/>
          </a:prstGeom>
          <a:solidFill>
            <a:srgbClr val="1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6" name="Picture 17415" descr="ic_smart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2992794"/>
            <a:ext cx="244400" cy="244400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1249600" y="2904994"/>
            <a:ext cx="3310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42A4A"/>
                </a:solidFill>
                <a:latin typeface="Calibri"/>
              </a:rPr>
              <a:t>Accessible Technology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249600" y="3224994"/>
            <a:ext cx="3310000" cy="5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C"/>
                </a:solidFill>
                <a:latin typeface="Calibri"/>
              </a:rPr>
              <a:t>Smartphone cameras + open-source AI — no proprietary hardware.</a:t>
            </a:r>
          </a:p>
        </p:txBody>
      </p:sp>
      <p:sp>
        <p:nvSpPr>
          <p:cNvPr id="17419" name="Oval 17418"/>
          <p:cNvSpPr/>
          <p:nvPr/>
        </p:nvSpPr>
        <p:spPr>
          <a:xfrm>
            <a:off x="674600" y="3819994"/>
            <a:ext cx="470000" cy="470000"/>
          </a:xfrm>
          <a:prstGeom prst="ellipse">
            <a:avLst/>
          </a:prstGeom>
          <a:solidFill>
            <a:srgbClr val="1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0" name="Picture 17419" descr="ic_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3932794"/>
            <a:ext cx="244400" cy="244400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1249600" y="3844994"/>
            <a:ext cx="3310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42A4A"/>
                </a:solidFill>
                <a:latin typeface="Calibri"/>
              </a:rPr>
              <a:t>Cloud-Native &amp; Modular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1249600" y="4164994"/>
            <a:ext cx="3310000" cy="5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C"/>
                </a:solidFill>
                <a:latin typeface="Calibri"/>
              </a:rPr>
              <a:t>Scalable, phased rollout across institutions.</a:t>
            </a:r>
          </a:p>
        </p:txBody>
      </p:sp>
      <p:sp>
        <p:nvSpPr>
          <p:cNvPr id="17423" name="Oval 17422"/>
          <p:cNvSpPr/>
          <p:nvPr/>
        </p:nvSpPr>
        <p:spPr>
          <a:xfrm>
            <a:off x="674600" y="4759994"/>
            <a:ext cx="470000" cy="470000"/>
          </a:xfrm>
          <a:prstGeom prst="ellipse">
            <a:avLst/>
          </a:prstGeom>
          <a:solidFill>
            <a:srgbClr val="1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4" name="Picture 17423" descr="ic_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4872794"/>
            <a:ext cx="244400" cy="244400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1249600" y="4784994"/>
            <a:ext cx="3310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42A4A"/>
                </a:solidFill>
                <a:latin typeface="Calibri"/>
              </a:rPr>
              <a:t>Human-in-the-Loop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1249600" y="5104994"/>
            <a:ext cx="3310000" cy="5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B6B7C"/>
                </a:solidFill>
                <a:latin typeface="Calibri"/>
              </a:rPr>
              <a:t>Staff validate AI recommendations — explainable, trustworthy decisions.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4859600" y="1464994"/>
            <a:ext cx="67228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70C0"/>
                </a:solidFill>
                <a:latin typeface="Calibri"/>
              </a:rPr>
              <a:t>CHALLENGES &amp; MITIGATION STRATEGIES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859600" y="1924994"/>
            <a:ext cx="6722800" cy="470000"/>
          </a:xfrm>
          <a:prstGeom prst="roundRect">
            <a:avLst>
              <a:gd name="adj" fmla="val 0"/>
            </a:avLst>
          </a:prstGeom>
          <a:solidFill>
            <a:srgbClr val="14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5009600" y="1924994"/>
            <a:ext cx="2539120" cy="4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7698720" y="1924994"/>
            <a:ext cx="3883680" cy="47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MITIGATION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4859600" y="2394994"/>
            <a:ext cx="6722800" cy="620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5009600" y="2394994"/>
            <a:ext cx="2489120" cy="6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A4A"/>
                </a:solidFill>
                <a:latin typeface="Calibri"/>
              </a:rPr>
              <a:t>Food Variability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7698720" y="2394994"/>
            <a:ext cx="3833680" cy="6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73344"/>
                </a:solidFill>
                <a:latin typeface="Calibri"/>
              </a:rPr>
              <a:t>Recipe-aware AI learns kitchen-specific patterns</a:t>
            </a:r>
          </a:p>
        </p:txBody>
      </p:sp>
      <p:sp>
        <p:nvSpPr>
          <p:cNvPr id="17434" name="Rectangle 17433"/>
          <p:cNvSpPr/>
          <p:nvPr/>
        </p:nvSpPr>
        <p:spPr>
          <a:xfrm>
            <a:off x="4859600" y="3014994"/>
            <a:ext cx="6722800" cy="6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TextBox 17434"/>
          <p:cNvSpPr txBox="1"/>
          <p:nvPr/>
        </p:nvSpPr>
        <p:spPr>
          <a:xfrm>
            <a:off x="5009600" y="3014994"/>
            <a:ext cx="2489120" cy="6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A4A"/>
                </a:solidFill>
                <a:latin typeface="Calibri"/>
              </a:rPr>
              <a:t>Limited Historical Data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7698720" y="3014994"/>
            <a:ext cx="3833680" cy="6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73344"/>
                </a:solidFill>
                <a:latin typeface="Calibri"/>
              </a:rPr>
              <a:t>Continuous retraining with kitchen-specific models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4859600" y="3634994"/>
            <a:ext cx="6722800" cy="620000"/>
          </a:xfrm>
          <a:prstGeom prst="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TextBox 17437"/>
          <p:cNvSpPr txBox="1"/>
          <p:nvPr/>
        </p:nvSpPr>
        <p:spPr>
          <a:xfrm>
            <a:off x="5009600" y="3634994"/>
            <a:ext cx="2489120" cy="6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A4A"/>
                </a:solidFill>
                <a:latin typeface="Calibri"/>
              </a:rPr>
              <a:t>Camera Differences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698720" y="3634994"/>
            <a:ext cx="3833680" cy="6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73344"/>
                </a:solidFill>
                <a:latin typeface="Calibri"/>
              </a:rPr>
              <a:t>Robust CV pipeline with confidence scoring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4859600" y="4254994"/>
            <a:ext cx="6722800" cy="6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TextBox 17440"/>
          <p:cNvSpPr txBox="1"/>
          <p:nvPr/>
        </p:nvSpPr>
        <p:spPr>
          <a:xfrm>
            <a:off x="5009600" y="4254994"/>
            <a:ext cx="2489120" cy="6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A4A"/>
                </a:solidFill>
                <a:latin typeface="Calibri"/>
              </a:rPr>
              <a:t>Adoption Resistance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7698720" y="4254994"/>
            <a:ext cx="3833680" cy="6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73344"/>
                </a:solidFill>
                <a:latin typeface="Calibri"/>
              </a:rPr>
              <a:t>Explainable AI with clear reasoning &amp; staff training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4859600" y="1924994"/>
            <a:ext cx="6722800" cy="2950000"/>
          </a:xfrm>
          <a:prstGeom prst="rect">
            <a:avLst/>
          </a:prstGeom>
          <a:noFill/>
          <a:ln w="9525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l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</a:t>
            </a:r>
            <a:r>
              <a:rPr lang="en-US" dirty="0" err="1">
                <a:solidFill>
                  <a:prstClr val="white"/>
                </a:solidFill>
              </a:rPr>
              <a:t>GitResolvers</a:t>
            </a: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9600" y="1429757"/>
            <a:ext cx="3505200" cy="118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829600" y="1539757"/>
            <a:ext cx="3065200" cy="5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829600" y="2069757"/>
            <a:ext cx="30652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Food Waste Reduced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829600" y="2319757"/>
            <a:ext cx="30652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DDECFB"/>
                </a:solidFill>
                <a:latin typeface="Calibri"/>
              </a:rPr>
              <a:t>Institutional food waste cut from 20-40% of total procurement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343400" y="1429757"/>
            <a:ext cx="3505200" cy="118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TextBox 17414"/>
          <p:cNvSpPr txBox="1"/>
          <p:nvPr/>
        </p:nvSpPr>
        <p:spPr>
          <a:xfrm>
            <a:off x="4563400" y="1539757"/>
            <a:ext cx="3065200" cy="5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85%+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563400" y="2069757"/>
            <a:ext cx="30652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Surplus Recovered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563400" y="2319757"/>
            <a:ext cx="30652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DDECFB"/>
                </a:solidFill>
                <a:latin typeface="Calibri"/>
              </a:rPr>
              <a:t>Of identifiable surplus successfully redistributed to communities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077200" y="1429757"/>
            <a:ext cx="3505200" cy="118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8297200" y="1539757"/>
            <a:ext cx="3065200" cy="5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50%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297200" y="2069757"/>
            <a:ext cx="30652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UN 2030 Target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8297200" y="2319757"/>
            <a:ext cx="30652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DDECFB"/>
                </a:solidFill>
                <a:latin typeface="Calibri"/>
              </a:rPr>
              <a:t>Global food waste reduction goal FoodLink directly advances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09600" y="3024277"/>
            <a:ext cx="109728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70C0"/>
                </a:solidFill>
                <a:latin typeface="Calibri"/>
              </a:rPr>
              <a:t>IMPACT ACROSS DIMENSIONS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09600" y="3454277"/>
            <a:ext cx="5391150" cy="900000"/>
          </a:xfrm>
          <a:prstGeom prst="roundRect">
            <a:avLst>
              <a:gd name="adj" fmla="val 9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Oval 17423"/>
          <p:cNvSpPr/>
          <p:nvPr/>
        </p:nvSpPr>
        <p:spPr>
          <a:xfrm>
            <a:off x="919600" y="3654277"/>
            <a:ext cx="500000" cy="500000"/>
          </a:xfrm>
          <a:prstGeom prst="ellipse">
            <a:avLst/>
          </a:prstGeom>
          <a:solidFill>
            <a:srgbClr val="1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5" name="Picture 17424" descr="ic_so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600" y="3774277"/>
            <a:ext cx="260000" cy="260000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1489600" y="3564277"/>
            <a:ext cx="441115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A4A"/>
                </a:solidFill>
                <a:latin typeface="Calibri"/>
              </a:rPr>
              <a:t>Social Impact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489600" y="3874277"/>
            <a:ext cx="441115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5B6B7C"/>
                </a:solidFill>
                <a:latin typeface="Calibri"/>
              </a:rPr>
              <a:t>•  Improve food security in underserved communities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5B6B7C"/>
                </a:solidFill>
                <a:latin typeface="Calibri"/>
              </a:rPr>
              <a:t>•  Transparent, data-driven redistribution to NGOs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191250" y="3454277"/>
            <a:ext cx="5391150" cy="900000"/>
          </a:xfrm>
          <a:prstGeom prst="roundRect">
            <a:avLst>
              <a:gd name="adj" fmla="val 9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Oval 17428"/>
          <p:cNvSpPr/>
          <p:nvPr/>
        </p:nvSpPr>
        <p:spPr>
          <a:xfrm>
            <a:off x="6501250" y="3654277"/>
            <a:ext cx="500000" cy="500000"/>
          </a:xfrm>
          <a:prstGeom prst="ellipse">
            <a:avLst/>
          </a:prstGeom>
          <a:solidFill>
            <a:srgbClr val="1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0" name="Picture 17429" descr="ic_econo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250" y="3774277"/>
            <a:ext cx="260000" cy="260000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7071250" y="3564277"/>
            <a:ext cx="441115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A4A"/>
                </a:solidFill>
                <a:latin typeface="Calibri"/>
              </a:rPr>
              <a:t>Economic Benefits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7071250" y="3874277"/>
            <a:ext cx="441115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5B6B7C"/>
                </a:solidFill>
                <a:latin typeface="Calibri"/>
              </a:rPr>
              <a:t>•  Lower procurement costs via accurate forecasting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5B6B7C"/>
                </a:solidFill>
                <a:latin typeface="Calibri"/>
              </a:rPr>
              <a:t>•  Reduced disposal &amp; waste management expenses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09600" y="4504277"/>
            <a:ext cx="5391150" cy="900000"/>
          </a:xfrm>
          <a:prstGeom prst="roundRect">
            <a:avLst>
              <a:gd name="adj" fmla="val 9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4" name="Oval 17433"/>
          <p:cNvSpPr/>
          <p:nvPr/>
        </p:nvSpPr>
        <p:spPr>
          <a:xfrm>
            <a:off x="919600" y="4704277"/>
            <a:ext cx="500000" cy="500000"/>
          </a:xfrm>
          <a:prstGeom prst="ellipse">
            <a:avLst/>
          </a:prstGeom>
          <a:solidFill>
            <a:srgbClr val="1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5" name="Picture 17434" descr="ic_environ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600" y="4824277"/>
            <a:ext cx="260000" cy="260000"/>
          </a:xfrm>
          <a:prstGeom prst="rect">
            <a:avLst/>
          </a:prstGeom>
        </p:spPr>
      </p:pic>
      <p:sp>
        <p:nvSpPr>
          <p:cNvPr id="17436" name="TextBox 17435"/>
          <p:cNvSpPr txBox="1"/>
          <p:nvPr/>
        </p:nvSpPr>
        <p:spPr>
          <a:xfrm>
            <a:off x="1489600" y="4614277"/>
            <a:ext cx="441115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A4A"/>
                </a:solidFill>
                <a:latin typeface="Calibri"/>
              </a:rPr>
              <a:t>Environmental Impact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1489600" y="4924277"/>
            <a:ext cx="441115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5B6B7C"/>
                </a:solidFill>
                <a:latin typeface="Calibri"/>
              </a:rPr>
              <a:t>•  Lower carbon footprint across the supply chain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5B6B7C"/>
                </a:solidFill>
                <a:latin typeface="Calibri"/>
              </a:rPr>
              <a:t>•  Advances UN SDG 12: Responsible Consumption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6191250" y="4504277"/>
            <a:ext cx="5391150" cy="900000"/>
          </a:xfrm>
          <a:prstGeom prst="roundRect">
            <a:avLst>
              <a:gd name="adj" fmla="val 9000"/>
            </a:avLst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Oval 17438"/>
          <p:cNvSpPr/>
          <p:nvPr/>
        </p:nvSpPr>
        <p:spPr>
          <a:xfrm>
            <a:off x="6501250" y="4704277"/>
            <a:ext cx="500000" cy="500000"/>
          </a:xfrm>
          <a:prstGeom prst="ellipse">
            <a:avLst/>
          </a:prstGeom>
          <a:solidFill>
            <a:srgbClr val="1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40" name="Picture 17439" descr="ic_operation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1250" y="4824277"/>
            <a:ext cx="260000" cy="260000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7071250" y="4614277"/>
            <a:ext cx="441115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A4A"/>
                </a:solidFill>
                <a:latin typeface="Calibri"/>
              </a:rPr>
              <a:t>Operational Benefits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7071250" y="4924277"/>
            <a:ext cx="441115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5B6B7C"/>
                </a:solidFill>
                <a:latin typeface="Calibri"/>
              </a:rPr>
              <a:t>•  Centralized analytics dashboard for oversight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69" b="0" i="0">
                <a:solidFill>
                  <a:srgbClr val="5B6B7C"/>
                </a:solidFill>
                <a:latin typeface="Calibri"/>
              </a:rPr>
              <a:t>•  Real-time tracking of meals saved &amp; waste prevented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</a:t>
            </a:r>
            <a:r>
              <a:rPr lang="en-US" dirty="0" err="1">
                <a:solidFill>
                  <a:prstClr val="white"/>
                </a:solidFill>
              </a:rPr>
              <a:t>GitResolvers</a:t>
            </a:r>
            <a:endParaRPr kumimoji="0" lang="en-US" sz="12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09600" y="1491422"/>
            <a:ext cx="57000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70C0"/>
                </a:solidFill>
                <a:latin typeface="Calibri"/>
              </a:rPr>
              <a:t>KNOWLEDGE FOUNDATION</a:t>
            </a:r>
          </a:p>
        </p:txBody>
      </p:sp>
      <p:sp>
        <p:nvSpPr>
          <p:cNvPr id="17411" name="Oval 17410"/>
          <p:cNvSpPr/>
          <p:nvPr/>
        </p:nvSpPr>
        <p:spPr>
          <a:xfrm>
            <a:off x="674600" y="1926422"/>
            <a:ext cx="430000" cy="430000"/>
          </a:xfrm>
          <a:prstGeom prst="ellipse">
            <a:avLst/>
          </a:prstGeom>
          <a:solidFill>
            <a:srgbClr val="0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2" name="Picture 17411" descr="ic_knowle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00" y="2029622"/>
            <a:ext cx="223600" cy="223600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1199600" y="1951422"/>
            <a:ext cx="508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42A4A"/>
                </a:solidFill>
                <a:latin typeface="Calibri"/>
              </a:rPr>
              <a:t>Food Waste Management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199600" y="2251422"/>
            <a:ext cx="508000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B7C"/>
                </a:solidFill>
                <a:latin typeface="Calibri"/>
              </a:rPr>
              <a:t>FAO, FSSAI &amp; WHO guidelines and research frameworks</a:t>
            </a:r>
          </a:p>
        </p:txBody>
      </p:sp>
      <p:sp>
        <p:nvSpPr>
          <p:cNvPr id="17415" name="Oval 17414"/>
          <p:cNvSpPr/>
          <p:nvPr/>
        </p:nvSpPr>
        <p:spPr>
          <a:xfrm>
            <a:off x="674600" y="2756422"/>
            <a:ext cx="430000" cy="430000"/>
          </a:xfrm>
          <a:prstGeom prst="ellipse">
            <a:avLst/>
          </a:prstGeom>
          <a:solidFill>
            <a:srgbClr val="0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6" name="Picture 17415" descr="ic_vis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800" y="2859622"/>
            <a:ext cx="223600" cy="223600"/>
          </a:xfrm>
          <a:prstGeom prst="rect">
            <a:avLst/>
          </a:prstGeom>
        </p:spPr>
      </p:pic>
      <p:sp>
        <p:nvSpPr>
          <p:cNvPr id="17417" name="TextBox 17416"/>
          <p:cNvSpPr txBox="1"/>
          <p:nvPr/>
        </p:nvSpPr>
        <p:spPr>
          <a:xfrm>
            <a:off x="1199600" y="2781422"/>
            <a:ext cx="508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42A4A"/>
                </a:solidFill>
                <a:latin typeface="Calibri"/>
              </a:rPr>
              <a:t>Computer Vision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199600" y="3081422"/>
            <a:ext cx="508000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B7C"/>
                </a:solidFill>
                <a:latin typeface="Calibri"/>
              </a:rPr>
              <a:t>YOLOv11, Vision Transformers (ViT), CLIP for food recognition</a:t>
            </a:r>
          </a:p>
        </p:txBody>
      </p:sp>
      <p:sp>
        <p:nvSpPr>
          <p:cNvPr id="17419" name="Oval 17418"/>
          <p:cNvSpPr/>
          <p:nvPr/>
        </p:nvSpPr>
        <p:spPr>
          <a:xfrm>
            <a:off x="674600" y="3586422"/>
            <a:ext cx="430000" cy="430000"/>
          </a:xfrm>
          <a:prstGeom prst="ellipse">
            <a:avLst/>
          </a:prstGeom>
          <a:solidFill>
            <a:srgbClr val="0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0" name="Picture 17419" descr="ic_foreca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800" y="3689622"/>
            <a:ext cx="223600" cy="223600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1199600" y="3611422"/>
            <a:ext cx="508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42A4A"/>
                </a:solidFill>
                <a:latin typeface="Calibri"/>
              </a:rPr>
              <a:t>Demand Forecasting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1199600" y="3911422"/>
            <a:ext cx="508000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B7C"/>
                </a:solidFill>
                <a:latin typeface="Calibri"/>
              </a:rPr>
              <a:t>Prophet, XGBoost &amp; time-series analysis methodologies</a:t>
            </a:r>
          </a:p>
        </p:txBody>
      </p:sp>
      <p:sp>
        <p:nvSpPr>
          <p:cNvPr id="17423" name="Oval 17422"/>
          <p:cNvSpPr/>
          <p:nvPr/>
        </p:nvSpPr>
        <p:spPr>
          <a:xfrm>
            <a:off x="674600" y="4416422"/>
            <a:ext cx="430000" cy="430000"/>
          </a:xfrm>
          <a:prstGeom prst="ellipse">
            <a:avLst/>
          </a:prstGeom>
          <a:solidFill>
            <a:srgbClr val="0A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4" name="Picture 17423" descr="ic_targ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800" y="4519622"/>
            <a:ext cx="223600" cy="223600"/>
          </a:xfrm>
          <a:prstGeom prst="rect">
            <a:avLst/>
          </a:prstGeom>
        </p:spPr>
      </p:pic>
      <p:sp>
        <p:nvSpPr>
          <p:cNvPr id="17425" name="TextBox 17424"/>
          <p:cNvSpPr txBox="1"/>
          <p:nvPr/>
        </p:nvSpPr>
        <p:spPr>
          <a:xfrm>
            <a:off x="1199600" y="4441422"/>
            <a:ext cx="50800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42A4A"/>
                </a:solidFill>
                <a:latin typeface="Calibri"/>
              </a:rPr>
              <a:t>Explainable AI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1199600" y="4741422"/>
            <a:ext cx="508000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B7C"/>
                </a:solidFill>
                <a:latin typeface="Calibri"/>
              </a:rPr>
              <a:t>SHAP, LIME for transparent, trustworthy decision-making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6609600" y="1280000"/>
            <a:ext cx="4972800" cy="3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70C0"/>
                </a:solidFill>
                <a:latin typeface="Calibri"/>
              </a:rPr>
              <a:t>REGULATORY ALIGNMENT</a:t>
            </a:r>
          </a:p>
        </p:txBody>
      </p:sp>
      <p:sp>
        <p:nvSpPr>
          <p:cNvPr id="17428" name="Oval 17427"/>
          <p:cNvSpPr/>
          <p:nvPr/>
        </p:nvSpPr>
        <p:spPr>
          <a:xfrm>
            <a:off x="6674600" y="1715000"/>
            <a:ext cx="430000" cy="430000"/>
          </a:xfrm>
          <a:prstGeom prst="ellipse">
            <a:avLst/>
          </a:prstGeom>
          <a:solidFill>
            <a:srgbClr val="1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9" name="Picture 17428" descr="ic_regulato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7800" y="1818200"/>
            <a:ext cx="223600" cy="223600"/>
          </a:xfrm>
          <a:prstGeom prst="rect">
            <a:avLst/>
          </a:prstGeom>
        </p:spPr>
      </p:pic>
      <p:sp>
        <p:nvSpPr>
          <p:cNvPr id="17430" name="TextBox 17429"/>
          <p:cNvSpPr txBox="1"/>
          <p:nvPr/>
        </p:nvSpPr>
        <p:spPr>
          <a:xfrm>
            <a:off x="7199600" y="1740000"/>
            <a:ext cx="43528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42A4A"/>
                </a:solidFill>
                <a:latin typeface="Calibri"/>
              </a:rPr>
              <a:t>FSSAI Standards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7199600" y="2040000"/>
            <a:ext cx="435280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B7C"/>
                </a:solidFill>
                <a:latin typeface="Calibri"/>
              </a:rPr>
              <a:t>Food safety standards governing redistribution protocols</a:t>
            </a:r>
          </a:p>
        </p:txBody>
      </p:sp>
      <p:sp>
        <p:nvSpPr>
          <p:cNvPr id="17432" name="Oval 17431"/>
          <p:cNvSpPr/>
          <p:nvPr/>
        </p:nvSpPr>
        <p:spPr>
          <a:xfrm>
            <a:off x="6674600" y="2545000"/>
            <a:ext cx="430000" cy="430000"/>
          </a:xfrm>
          <a:prstGeom prst="ellipse">
            <a:avLst/>
          </a:prstGeom>
          <a:solidFill>
            <a:srgbClr val="1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3" name="Picture 17432" descr="ic_environmen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77800" y="2648200"/>
            <a:ext cx="223600" cy="223600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7199600" y="2570000"/>
            <a:ext cx="43528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42A4A"/>
                </a:solidFill>
                <a:latin typeface="Calibri"/>
              </a:rPr>
              <a:t>UN SDG 12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7199600" y="2870000"/>
            <a:ext cx="435280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B7C"/>
                </a:solidFill>
                <a:latin typeface="Calibri"/>
              </a:rPr>
              <a:t>Responsible Consumption &amp; Production — core alignment goal</a:t>
            </a:r>
          </a:p>
        </p:txBody>
      </p:sp>
      <p:sp>
        <p:nvSpPr>
          <p:cNvPr id="17436" name="Oval 17435"/>
          <p:cNvSpPr/>
          <p:nvPr/>
        </p:nvSpPr>
        <p:spPr>
          <a:xfrm>
            <a:off x="6674600" y="3375000"/>
            <a:ext cx="430000" cy="430000"/>
          </a:xfrm>
          <a:prstGeom prst="ellipse">
            <a:avLst/>
          </a:prstGeom>
          <a:solidFill>
            <a:srgbClr val="1F7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7" name="Picture 17436" descr="ic_user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77800" y="3478200"/>
            <a:ext cx="223600" cy="223600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7199600" y="3400000"/>
            <a:ext cx="4352800" cy="30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42A4A"/>
                </a:solidFill>
                <a:latin typeface="Calibri"/>
              </a:rPr>
              <a:t>National Food Security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7199600" y="3700000"/>
            <a:ext cx="4352800" cy="4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5B6B7C"/>
                </a:solidFill>
                <a:latin typeface="Calibri"/>
              </a:rPr>
              <a:t>Aligned with national food security policies &amp; programs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609600" y="4260000"/>
            <a:ext cx="4972800" cy="1120000"/>
          </a:xfrm>
          <a:prstGeom prst="roundRect">
            <a:avLst>
              <a:gd name="adj" fmla="val 8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TextBox 17440"/>
          <p:cNvSpPr txBox="1"/>
          <p:nvPr/>
        </p:nvSpPr>
        <p:spPr>
          <a:xfrm>
            <a:off x="6829600" y="4350000"/>
            <a:ext cx="4532800" cy="2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0C0"/>
                </a:solidFill>
                <a:latin typeface="Calibri"/>
              </a:rPr>
              <a:t>INDUSTRY BENCHMARKS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829600" y="4660000"/>
            <a:ext cx="3083136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73344"/>
                </a:solidFill>
                <a:latin typeface="Calibri"/>
              </a:rPr>
              <a:t>UN Waste Reduction Target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9692736" y="4660000"/>
            <a:ext cx="1669664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42A4A"/>
                </a:solidFill>
                <a:latin typeface="Calibri"/>
              </a:rPr>
              <a:t>50% by 2030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829600" y="4900000"/>
            <a:ext cx="3083136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73344"/>
                </a:solidFill>
                <a:latin typeface="Calibri"/>
              </a:rPr>
              <a:t>Institutional Waste Rate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9692736" y="4900000"/>
            <a:ext cx="1669664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42A4A"/>
                </a:solidFill>
                <a:latin typeface="Calibri"/>
              </a:rPr>
              <a:t>20-40% of procurement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6829600" y="5140000"/>
            <a:ext cx="3083136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273344"/>
                </a:solidFill>
                <a:latin typeface="Calibri"/>
              </a:rPr>
              <a:t>Recoverable Surplus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9692736" y="5140000"/>
            <a:ext cx="1669664" cy="26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42A4A"/>
                </a:solidFill>
                <a:latin typeface="Calibri"/>
              </a:rPr>
              <a:t>85%+ redistributable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229</cp:revision>
  <dcterms:created xsi:type="dcterms:W3CDTF">2013-12-12T18:46:50Z</dcterms:created>
  <dcterms:modified xsi:type="dcterms:W3CDTF">2026-09-11T21:14:49Z</dcterms:modified>
  <cp:category/>
</cp:coreProperties>
</file>